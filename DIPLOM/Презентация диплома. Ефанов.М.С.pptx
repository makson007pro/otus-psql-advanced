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17"/>
  </p:notesMasterIdLst>
  <p:sldIdLst>
    <p:sldId id="256" r:id="rId3"/>
    <p:sldId id="258" r:id="rId4"/>
    <p:sldId id="259" r:id="rId5"/>
    <p:sldId id="260" r:id="rId6"/>
    <p:sldId id="303" r:id="rId7"/>
    <p:sldId id="261" r:id="rId8"/>
    <p:sldId id="262" r:id="rId9"/>
    <p:sldId id="299" r:id="rId10"/>
    <p:sldId id="300" r:id="rId11"/>
    <p:sldId id="301" r:id="rId12"/>
    <p:sldId id="305" r:id="rId13"/>
    <p:sldId id="304" r:id="rId14"/>
    <p:sldId id="302" r:id="rId15"/>
    <p:sldId id="265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59A102-01B5-49EB-8378-DFBD72DE36EA}">
  <a:tblStyle styleId="{2259A102-01B5-49EB-8378-DFBD72DE36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36" y="64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72CA2FB-813D-2EE6-4973-5EE01EB8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A22CB81D-65FD-AF73-4245-E592A1BEC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4FD98320-3E54-E98B-17C5-5E4B5A8E9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906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104E3A9D-31A5-A05D-DDD0-71C7A431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1C6DC02F-558B-108D-B2DB-E8BBB89C9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6A9E9D26-9963-C255-7FB1-23C4E84D7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38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3AB7588-7C23-5FAD-B568-77FE89CEF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24B7E69D-0468-12D6-60A4-2D3B657AC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3AFF95CF-99DC-2452-F066-1BFBC293C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71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7B80C0C-5938-D5CB-99B0-19853911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338425AE-58F3-6A41-37FE-DBB58A5AC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4DFAC23D-E980-967F-2989-63F895888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076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629DAAF-FCCC-6E4F-F03A-4606542D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3E8CD058-C845-31ED-C785-ED997A762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97BCB46D-836A-2F43-15FF-7A2D71BA2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184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B4AE939-9E04-867C-3962-D71EE94E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8DBEE45D-E8AC-A3D7-9BD6-E58D51F12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7083CBF9-7C51-FC02-3E7D-77F8850E6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0879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F35CFBF-997D-8A4F-070C-EB268174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ED95D932-5261-2B64-D628-B24D75A8E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7F3A4268-C185-E393-29CC-4A2419566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799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537034" y="1100846"/>
            <a:ext cx="7595584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Развертывание отказоустойчивого </a:t>
            </a:r>
            <a:r>
              <a:rPr lang="ru-RU" sz="3200" b="1" dirty="0" err="1">
                <a:solidFill>
                  <a:schemeClr val="bg1"/>
                </a:solidFill>
              </a:rPr>
              <a:t>PostgreSQL</a:t>
            </a:r>
            <a:r>
              <a:rPr lang="ru-RU" sz="3200" b="1" dirty="0">
                <a:solidFill>
                  <a:schemeClr val="bg1"/>
                </a:solidFill>
              </a:rPr>
              <a:t>-кластера в </a:t>
            </a:r>
            <a:r>
              <a:rPr lang="ru-RU" sz="3200" b="1" dirty="0" err="1">
                <a:solidFill>
                  <a:schemeClr val="bg1"/>
                </a:solidFill>
              </a:rPr>
              <a:t>Kubernetes</a:t>
            </a:r>
            <a:r>
              <a:rPr lang="ru-RU" sz="3200" b="1" dirty="0">
                <a:solidFill>
                  <a:schemeClr val="bg1"/>
                </a:solidFill>
              </a:rPr>
              <a:t> с анализом RTO/RPO при отказах под нагрузкой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85577" y="4138025"/>
            <a:ext cx="2764623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PostgreSQL. Advanced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CA83841-7B6E-6456-39A3-7D114AA1C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801" y="2343482"/>
            <a:ext cx="2611499" cy="253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49" y="313624"/>
            <a:ext cx="8643451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 dirty="0"/>
              <a:t>Защита проекта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 dirty="0"/>
              <a:t>Тема: </a:t>
            </a:r>
            <a:r>
              <a:rPr lang="ru-RU" sz="2800" dirty="0"/>
              <a:t>Развертывание отказоустойчивого </a:t>
            </a:r>
            <a:r>
              <a:rPr lang="ru-RU" sz="2800" dirty="0" err="1"/>
              <a:t>PostgreSQL</a:t>
            </a:r>
            <a:r>
              <a:rPr lang="ru-RU" sz="2800" dirty="0"/>
              <a:t>-кластера в </a:t>
            </a:r>
            <a:r>
              <a:rPr lang="ru-RU" sz="2800" dirty="0" err="1"/>
              <a:t>Kubernetes</a:t>
            </a:r>
            <a:r>
              <a:rPr lang="ru-RU" sz="2800" dirty="0"/>
              <a:t> с анализом RTO/RPO при отказах под нагрузкой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4">
            <a:alphaModFix/>
          </a:blip>
          <a:srcRect t="30931" b="13765"/>
          <a:stretch/>
        </p:blipFill>
        <p:spPr>
          <a:xfrm>
            <a:off x="678491" y="251117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246600" y="2571750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Ефанов Максим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246600" y="2947650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Инженер поддержки СУБД в компании </a:t>
            </a:r>
            <a:r>
              <a:rPr lang="en-US" sz="1300" dirty="0" err="1">
                <a:latin typeface="Roboto Medium"/>
                <a:ea typeface="Roboto Medium"/>
                <a:cs typeface="Roboto Medium"/>
                <a:sym typeface="Roboto Medium"/>
              </a:rPr>
              <a:t>Arenadata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Google Shape;314;p49">
            <a:extLst>
              <a:ext uri="{FF2B5EF4-FFF2-40B4-BE49-F238E27FC236}">
                <a16:creationId xmlns:a16="http://schemas.microsoft.com/office/drawing/2014/main" id="{38C00E3D-03D2-A72D-4A1D-A0E2FE6DDE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683" y="2005359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67;p49">
            <a:extLst>
              <a:ext uri="{FF2B5EF4-FFF2-40B4-BE49-F238E27FC236}">
                <a16:creationId xmlns:a16="http://schemas.microsoft.com/office/drawing/2014/main" id="{67B0F985-5E6B-63EF-6227-2AF49C75152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732" y="3222142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01;p49">
            <a:extLst>
              <a:ext uri="{FF2B5EF4-FFF2-40B4-BE49-F238E27FC236}">
                <a16:creationId xmlns:a16="http://schemas.microsoft.com/office/drawing/2014/main" id="{4CA0B3EC-079F-0065-0D46-FE5F1345F7A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398" y="3725451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86;p49">
            <a:extLst>
              <a:ext uri="{FF2B5EF4-FFF2-40B4-BE49-F238E27FC236}">
                <a16:creationId xmlns:a16="http://schemas.microsoft.com/office/drawing/2014/main" id="{1211E97B-E25F-B1F5-B07E-DE0676FDCBD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5732" y="1304862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93;p49">
            <a:extLst>
              <a:ext uri="{FF2B5EF4-FFF2-40B4-BE49-F238E27FC236}">
                <a16:creationId xmlns:a16="http://schemas.microsoft.com/office/drawing/2014/main" id="{2C4A3704-1D1F-D055-800A-DF7E3D27177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9925" y="2545468"/>
            <a:ext cx="555979" cy="539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63;p49">
            <a:extLst>
              <a:ext uri="{FF2B5EF4-FFF2-40B4-BE49-F238E27FC236}">
                <a16:creationId xmlns:a16="http://schemas.microsoft.com/office/drawing/2014/main" id="{31BF4155-E686-79DA-E8E6-62B5018E54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0576" y="3512420"/>
            <a:ext cx="1476749" cy="147674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477256481"/>
              </p:ext>
            </p:extLst>
          </p:nvPr>
        </p:nvGraphicFramePr>
        <p:xfrm>
          <a:off x="560500" y="2062376"/>
          <a:ext cx="7239000" cy="2641450"/>
        </p:xfrm>
        <a:graphic>
          <a:graphicData uri="http://schemas.openxmlformats.org/drawingml/2006/table">
            <a:tbl>
              <a:tblPr>
                <a:noFill/>
                <a:tableStyleId>{2259A102-01B5-49EB-8378-DFBD72DE36EA}</a:tableStyleId>
              </a:tblPr>
              <a:tblGrid>
                <a:gridCol w="4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Kubernetes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настроить потоковую репликацию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систему мониторинга и дашборды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Grafana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Провести нагрузочное тестирование и тестирование отказоустойчивости.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Исследовать автоматическое восстановление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Kubernetes.</a:t>
                      </a:r>
                      <a:r>
                        <a:rPr lang="ru" sz="14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r>
                        <a:rPr lang="ru-RU" dirty="0"/>
                        <a:t> </a:t>
                      </a: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Измерить RTO и оценить RPO, проанализировать производительность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60500" y="1098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развернуть отказоустойчивый </a:t>
            </a:r>
            <a:r>
              <a:rPr lang="ru-RU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</a:t>
            </a:r>
            <a:r>
              <a:rPr lang="ru-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-кластер в </a:t>
            </a:r>
            <a:r>
              <a:rPr lang="ru-RU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Kubernetes</a:t>
            </a:r>
            <a:r>
              <a:rPr lang="ru-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исследовать поведение системы при аварийных сценариях под нагрузкой.</a:t>
            </a:r>
            <a:endParaRPr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4549BBC4-5707-18DF-829D-39458147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A22E855-6DBD-DA39-CAE9-6646F46343CD}"/>
              </a:ext>
            </a:extLst>
          </p:cNvPr>
          <p:cNvSpPr/>
          <p:nvPr/>
        </p:nvSpPr>
        <p:spPr>
          <a:xfrm>
            <a:off x="500550" y="1266825"/>
            <a:ext cx="3357075" cy="27051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4BCC2D0F-3E7D-112F-D614-1F20B28D92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dirty="0"/>
              <a:t>Архитектура </a:t>
            </a:r>
            <a:r>
              <a:rPr lang="en-US" sz="2800" dirty="0"/>
              <a:t>PostgreSQL-</a:t>
            </a:r>
            <a:r>
              <a:rPr lang="ru-RU" sz="2800" dirty="0"/>
              <a:t>кластера</a:t>
            </a:r>
            <a:endParaRPr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A89169-3494-712C-1758-3C3BB70CC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113" y="1012302"/>
            <a:ext cx="2909888" cy="365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85F92F-5C96-DD0F-29CE-516859A48C47}"/>
              </a:ext>
            </a:extLst>
          </p:cNvPr>
          <p:cNvSpPr txBox="1"/>
          <p:nvPr/>
        </p:nvSpPr>
        <p:spPr>
          <a:xfrm>
            <a:off x="1081575" y="1603712"/>
            <a:ext cx="26212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/>
              <a:t>StatefulSet</a:t>
            </a:r>
            <a:endParaRPr lang="ru-RU" sz="1800" b="1" dirty="0"/>
          </a:p>
          <a:p>
            <a:endParaRPr lang="ru-RU" sz="1800" b="1" dirty="0"/>
          </a:p>
          <a:p>
            <a:r>
              <a:rPr lang="en-US" sz="1800" b="1" dirty="0"/>
              <a:t>Streaming Replication</a:t>
            </a:r>
            <a:endParaRPr lang="ru-RU" sz="1800" b="1" dirty="0"/>
          </a:p>
          <a:p>
            <a:endParaRPr lang="ru-RU" sz="1800" b="1" dirty="0"/>
          </a:p>
          <a:p>
            <a:r>
              <a:rPr lang="en-US" sz="1800" b="1" dirty="0"/>
              <a:t>Monitoring stack</a:t>
            </a:r>
            <a:endParaRPr lang="ru-RU" sz="1800" b="1" dirty="0"/>
          </a:p>
          <a:p>
            <a:endParaRPr lang="ru-RU" sz="1800" b="1" dirty="0"/>
          </a:p>
          <a:p>
            <a:r>
              <a:rPr lang="en-US" sz="1800" b="1" dirty="0"/>
              <a:t>Load testing</a:t>
            </a:r>
            <a:endParaRPr lang="ru-RU" sz="1800" b="1" dirty="0"/>
          </a:p>
        </p:txBody>
      </p:sp>
    </p:spTree>
    <p:extLst>
      <p:ext uri="{BB962C8B-B14F-4D97-AF65-F5344CB8AC3E}">
        <p14:creationId xmlns:p14="http://schemas.microsoft.com/office/powerpoint/2010/main" val="25578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19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886520094"/>
              </p:ext>
            </p:extLst>
          </p:nvPr>
        </p:nvGraphicFramePr>
        <p:xfrm>
          <a:off x="500550" y="1184975"/>
          <a:ext cx="7239000" cy="3638402"/>
        </p:xfrm>
        <a:graphic>
          <a:graphicData uri="http://schemas.openxmlformats.org/drawingml/2006/table">
            <a:tbl>
              <a:tblPr>
                <a:noFill/>
                <a:tableStyleId>{2259A102-01B5-49EB-8378-DFBD72DE36EA}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 err="1"/>
                        <a:t>Kubernetes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Использовался для </a:t>
                      </a:r>
                      <a:r>
                        <a:rPr lang="ru-RU" sz="1200" dirty="0" err="1"/>
                        <a:t>оркестрации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PostgreSQL</a:t>
                      </a:r>
                      <a:r>
                        <a:rPr lang="ru-RU" sz="1200" dirty="0"/>
                        <a:t>-кластера, автоматического восстановления </a:t>
                      </a:r>
                      <a:r>
                        <a:rPr lang="ru-RU" sz="1200" dirty="0" err="1"/>
                        <a:t>pod</a:t>
                      </a:r>
                      <a:r>
                        <a:rPr lang="ru-RU" sz="1200" dirty="0"/>
                        <a:t> и управления инфраструктурой.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 err="1"/>
                        <a:t>PostgreSQL</a:t>
                      </a:r>
                      <a:r>
                        <a:rPr lang="ru-RU" sz="1200" b="1" dirty="0"/>
                        <a:t> 16 + потоковая репликация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Использовались для построения отказоустойчивого кластера и минимизации потери данных при сбоях.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2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 err="1"/>
                        <a:t>Prometheus</a:t>
                      </a:r>
                      <a:r>
                        <a:rPr lang="ru-RU" sz="1200" b="1" dirty="0"/>
                        <a:t> + </a:t>
                      </a:r>
                      <a:r>
                        <a:rPr lang="ru-RU" sz="1200" b="1" dirty="0" err="1"/>
                        <a:t>Grafana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Использовались для мониторинга </a:t>
                      </a:r>
                      <a:r>
                        <a:rPr lang="ru-RU" sz="1200" dirty="0" err="1"/>
                        <a:t>PostgreSQL</a:t>
                      </a:r>
                      <a:r>
                        <a:rPr lang="ru-RU" sz="1200" dirty="0"/>
                        <a:t>, сбора и визуализации метрик нагрузки и репликации.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2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 err="1"/>
                        <a:t>pgbench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Использовался для нагрузочного тестирования и анализа поведения </a:t>
                      </a:r>
                      <a:r>
                        <a:rPr lang="ru-RU" sz="1200" dirty="0" err="1"/>
                        <a:t>PostgreSQL</a:t>
                      </a:r>
                      <a:r>
                        <a:rPr lang="ru-RU" sz="1200" dirty="0"/>
                        <a:t> под нагрузкой и при отказах.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707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Развертывание </a:t>
            </a:r>
            <a:r>
              <a:rPr lang="en-US" sz="3000" dirty="0"/>
              <a:t>POSTGRESQL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17C82D-A2D5-AAFF-B395-7375BF50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22" y="917508"/>
            <a:ext cx="1786703" cy="281405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BB3689-AE3A-BE82-8490-03955E1D6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6" y="1038225"/>
            <a:ext cx="2397154" cy="19640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6179A6-3DD1-A9ED-01C8-F486A679E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802" y="1429505"/>
            <a:ext cx="2792967" cy="17900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61EEEB-5891-2A75-BE77-C60FCAD10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6" y="3264806"/>
            <a:ext cx="5311140" cy="6920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E2BDCD-99F3-AE65-6DC3-7CAF5995E5C4}"/>
              </a:ext>
            </a:extLst>
          </p:cNvPr>
          <p:cNvSpPr txBox="1"/>
          <p:nvPr/>
        </p:nvSpPr>
        <p:spPr>
          <a:xfrm>
            <a:off x="500550" y="4219420"/>
            <a:ext cx="6396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PostgreSQL</a:t>
            </a:r>
            <a:r>
              <a:rPr lang="ru-RU" dirty="0"/>
              <a:t> развернут через </a:t>
            </a:r>
            <a:r>
              <a:rPr lang="ru-RU" dirty="0" err="1"/>
              <a:t>StatefulSet</a:t>
            </a:r>
            <a:r>
              <a:rPr lang="ru-RU" dirty="0"/>
              <a:t>. Настроены реплики. </a:t>
            </a:r>
          </a:p>
          <a:p>
            <a:r>
              <a:rPr lang="ru-RU" dirty="0"/>
              <a:t>Данные сохраняются через </a:t>
            </a:r>
            <a:r>
              <a:rPr lang="ru-RU" dirty="0" err="1"/>
              <a:t>PersistentVolume</a:t>
            </a:r>
            <a:r>
              <a:rPr lang="ru-RU" dirty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5778D91-1CEB-3A8E-57E8-028295BD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6CD6966D-9325-7E99-EDF2-2E942BB04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522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Нагрузочное тестирование</a:t>
            </a:r>
            <a:endParaRPr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5348E-6B50-B284-9F2D-EA12608D365A}"/>
              </a:ext>
            </a:extLst>
          </p:cNvPr>
          <p:cNvSpPr txBox="1"/>
          <p:nvPr/>
        </p:nvSpPr>
        <p:spPr>
          <a:xfrm>
            <a:off x="500550" y="3049632"/>
            <a:ext cx="3586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PostgreSQL</a:t>
            </a:r>
            <a:r>
              <a:rPr lang="ru-RU" dirty="0"/>
              <a:t> продолжил стабильно работать под конкурентной нагрузкой.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22A373-FB4A-F46E-8F8B-3EF3B3E47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20" y="1148988"/>
            <a:ext cx="4164330" cy="157447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7931BE-6CE0-2ACE-A7AD-B15047D21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310" y="1148988"/>
            <a:ext cx="2837010" cy="353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05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85EEF76-C3CF-4C5C-D15F-7E6DC329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F94CBCC4-094B-5043-21E8-18F7116DA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/>
              <a:t>Мониторинг </a:t>
            </a:r>
            <a:r>
              <a:rPr lang="en-US" sz="3000" dirty="0"/>
              <a:t>POSTGRESQL</a:t>
            </a:r>
            <a:endParaRPr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0A449-BED9-4938-1F87-30AEE85D4878}"/>
              </a:ext>
            </a:extLst>
          </p:cNvPr>
          <p:cNvSpPr txBox="1"/>
          <p:nvPr/>
        </p:nvSpPr>
        <p:spPr>
          <a:xfrm>
            <a:off x="442912" y="3212338"/>
            <a:ext cx="244810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Отслеживаемые метрики</a:t>
            </a:r>
          </a:p>
          <a:p>
            <a:r>
              <a:rPr lang="en-US" dirty="0"/>
              <a:t>CPU usage </a:t>
            </a:r>
          </a:p>
          <a:p>
            <a:r>
              <a:rPr lang="en-US" dirty="0"/>
              <a:t>Transactions </a:t>
            </a:r>
          </a:p>
          <a:p>
            <a:r>
              <a:rPr lang="en-US" dirty="0"/>
              <a:t>Active sessions </a:t>
            </a:r>
          </a:p>
          <a:p>
            <a:r>
              <a:rPr lang="en-US" dirty="0"/>
              <a:t>Locks </a:t>
            </a:r>
          </a:p>
          <a:p>
            <a:r>
              <a:rPr lang="en-US" dirty="0"/>
              <a:t>WAL activity </a:t>
            </a:r>
          </a:p>
          <a:p>
            <a:r>
              <a:rPr lang="en-US" dirty="0"/>
              <a:t>Checkpoints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149EC1-C4ED-E5B3-D538-E4AF29273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211580"/>
            <a:ext cx="3470335" cy="166825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2FD801-8DCD-F170-1F96-A54441B4B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221" y="1096327"/>
            <a:ext cx="3497580" cy="195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55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3D5E9E10-995F-0670-83E2-4CD23B5F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A8F94CCE-6AA6-02A8-5529-CCDE848E0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Тестирование отказоустойчивости</a:t>
            </a:r>
            <a:endParaRPr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7829C-AAD3-F5B3-0115-E63EF051F51F}"/>
              </a:ext>
            </a:extLst>
          </p:cNvPr>
          <p:cNvSpPr txBox="1"/>
          <p:nvPr/>
        </p:nvSpPr>
        <p:spPr>
          <a:xfrm>
            <a:off x="500550" y="1161241"/>
            <a:ext cx="3187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Выполненная команда:</a:t>
            </a:r>
          </a:p>
          <a:p>
            <a:r>
              <a:rPr lang="en-US" dirty="0" err="1"/>
              <a:t>kubectl</a:t>
            </a:r>
            <a:r>
              <a:rPr lang="en-US" dirty="0"/>
              <a:t> delete pod postgres-primary-0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2595E-9BAA-3B52-C39D-68E60CB0D0A9}"/>
              </a:ext>
            </a:extLst>
          </p:cNvPr>
          <p:cNvSpPr txBox="1"/>
          <p:nvPr/>
        </p:nvSpPr>
        <p:spPr>
          <a:xfrm>
            <a:off x="500550" y="1942297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Что произошло:</a:t>
            </a:r>
          </a:p>
          <a:p>
            <a:r>
              <a:rPr lang="ru-RU" dirty="0" err="1"/>
              <a:t>Kubernetes</a:t>
            </a:r>
            <a:r>
              <a:rPr lang="ru-RU" dirty="0"/>
              <a:t> автоматически пересоздал </a:t>
            </a:r>
            <a:r>
              <a:rPr lang="ru-RU" dirty="0" err="1"/>
              <a:t>pod</a:t>
            </a:r>
            <a:r>
              <a:rPr lang="ru-RU" dirty="0"/>
              <a:t> </a:t>
            </a:r>
          </a:p>
          <a:p>
            <a:r>
              <a:rPr lang="ru-RU" dirty="0" err="1"/>
              <a:t>PersistentVolume</a:t>
            </a:r>
            <a:r>
              <a:rPr lang="ru-RU" dirty="0"/>
              <a:t> был повторно подключен </a:t>
            </a:r>
          </a:p>
          <a:p>
            <a:r>
              <a:rPr lang="ru-RU" dirty="0" err="1"/>
              <a:t>PostgreSQL</a:t>
            </a:r>
            <a:r>
              <a:rPr lang="ru-RU" dirty="0"/>
              <a:t> восстановился автоматически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CA1E39-B283-5DCA-F99D-797BE4816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67" y="3171720"/>
            <a:ext cx="6925373" cy="109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1FFF86F-CD4E-7F27-06F9-FAF818B9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6B9B6396-A64E-60CA-9BB9-F740E5A44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dirty="0"/>
              <a:t>Анализ </a:t>
            </a:r>
            <a:r>
              <a:rPr lang="en-US" sz="2800" dirty="0"/>
              <a:t>RTO </a:t>
            </a:r>
            <a:r>
              <a:rPr lang="ru-RU" sz="2800" dirty="0"/>
              <a:t>И </a:t>
            </a:r>
            <a:r>
              <a:rPr lang="en-US" sz="2800" dirty="0"/>
              <a:t>RPO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C783FC-0C20-6750-ACDF-7AE425554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144981"/>
            <a:ext cx="5238750" cy="1609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D8105B-3EC6-5C44-8D90-125A9D1241A2}"/>
              </a:ext>
            </a:extLst>
          </p:cNvPr>
          <p:cNvSpPr txBox="1"/>
          <p:nvPr/>
        </p:nvSpPr>
        <p:spPr>
          <a:xfrm>
            <a:off x="500550" y="2862428"/>
            <a:ext cx="511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RTO</a:t>
            </a:r>
          </a:p>
          <a:p>
            <a:pPr>
              <a:buNone/>
            </a:pPr>
            <a:r>
              <a:rPr lang="ru-RU" dirty="0"/>
              <a:t>Время восстановления </a:t>
            </a:r>
            <a:r>
              <a:rPr lang="ru-RU" dirty="0" err="1"/>
              <a:t>PostgreSQL</a:t>
            </a:r>
            <a:r>
              <a:rPr lang="ru-RU" dirty="0"/>
              <a:t> после удаления </a:t>
            </a:r>
            <a:r>
              <a:rPr lang="ru-RU" dirty="0" err="1"/>
              <a:t>pod</a:t>
            </a:r>
            <a:r>
              <a:rPr lang="ru-RU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01C83-E3A3-2E62-B863-0637A249CADC}"/>
              </a:ext>
            </a:extLst>
          </p:cNvPr>
          <p:cNvSpPr txBox="1"/>
          <p:nvPr/>
        </p:nvSpPr>
        <p:spPr>
          <a:xfrm>
            <a:off x="500550" y="349337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RPO</a:t>
            </a:r>
          </a:p>
          <a:p>
            <a:pPr>
              <a:buNone/>
            </a:pPr>
            <a:r>
              <a:rPr lang="ru-RU" dirty="0"/>
              <a:t>Потенциальная потеря данных при сбое.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B5C56-FBF9-5B08-8172-60AABF1E2B66}"/>
              </a:ext>
            </a:extLst>
          </p:cNvPr>
          <p:cNvSpPr txBox="1"/>
          <p:nvPr/>
        </p:nvSpPr>
        <p:spPr>
          <a:xfrm>
            <a:off x="500549" y="4124312"/>
            <a:ext cx="6595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Вывод</a:t>
            </a:r>
          </a:p>
          <a:p>
            <a:pPr>
              <a:buNone/>
            </a:pPr>
            <a:r>
              <a:rPr lang="ru-RU" dirty="0"/>
              <a:t>Потоковая репликация обеспечила минимальный RPO даже под нагрузкой.</a:t>
            </a:r>
          </a:p>
        </p:txBody>
      </p:sp>
    </p:spTree>
    <p:extLst>
      <p:ext uri="{BB962C8B-B14F-4D97-AF65-F5344CB8AC3E}">
        <p14:creationId xmlns:p14="http://schemas.microsoft.com/office/powerpoint/2010/main" val="125546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B21B8711-9BB0-9064-DAEC-26A7F590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258269E7-8F6B-FD30-954B-2A3E7C600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7741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Выявленные проблемы и ограничения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310D7C-EBC2-C7C5-7D4A-2F43F7BB1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" y="1104900"/>
            <a:ext cx="6543675" cy="2009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6BC89F-C0BF-C5B3-9566-735164513CEE}"/>
              </a:ext>
            </a:extLst>
          </p:cNvPr>
          <p:cNvSpPr txBox="1"/>
          <p:nvPr/>
        </p:nvSpPr>
        <p:spPr>
          <a:xfrm>
            <a:off x="500550" y="3453824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Возможные улучшения</a:t>
            </a:r>
          </a:p>
          <a:p>
            <a:r>
              <a:rPr lang="ru-RU" dirty="0"/>
              <a:t>- </a:t>
            </a:r>
            <a:r>
              <a:rPr lang="en-US" dirty="0"/>
              <a:t>multi-node cluster; </a:t>
            </a:r>
          </a:p>
          <a:p>
            <a:r>
              <a:rPr lang="ru-RU" dirty="0"/>
              <a:t>- </a:t>
            </a:r>
            <a:r>
              <a:rPr lang="en-US" dirty="0"/>
              <a:t>Patroni; </a:t>
            </a:r>
          </a:p>
          <a:p>
            <a:r>
              <a:rPr lang="ru-RU" dirty="0"/>
              <a:t>- </a:t>
            </a:r>
            <a:r>
              <a:rPr lang="en-US" dirty="0"/>
              <a:t>distributed storage; </a:t>
            </a:r>
          </a:p>
          <a:p>
            <a:r>
              <a:rPr lang="ru-RU" dirty="0"/>
              <a:t>- </a:t>
            </a:r>
            <a:r>
              <a:rPr lang="en-US" dirty="0"/>
              <a:t>automatic failover.</a:t>
            </a:r>
          </a:p>
        </p:txBody>
      </p:sp>
    </p:spTree>
    <p:extLst>
      <p:ext uri="{BB962C8B-B14F-4D97-AF65-F5344CB8AC3E}">
        <p14:creationId xmlns:p14="http://schemas.microsoft.com/office/powerpoint/2010/main" val="2733636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AAAE30D-6954-EEAD-547E-C7516E4BF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77EE15FD-8CB1-6841-AFBE-EC49F75E7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707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Итоговые результаты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107FAE-C9B8-03CE-DBBF-31A9C22AA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97" y="1123950"/>
            <a:ext cx="4033103" cy="3067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600D11-0F09-B5E5-E6ED-AE2FCABEC449}"/>
              </a:ext>
            </a:extLst>
          </p:cNvPr>
          <p:cNvSpPr txBox="1"/>
          <p:nvPr/>
        </p:nvSpPr>
        <p:spPr>
          <a:xfrm>
            <a:off x="500550" y="1038225"/>
            <a:ext cx="365235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300" b="1" dirty="0"/>
              <a:t>Основные выводы:</a:t>
            </a:r>
          </a:p>
          <a:p>
            <a:pPr>
              <a:buNone/>
            </a:pPr>
            <a:endParaRPr lang="ru-RU" sz="1300" b="1" dirty="0"/>
          </a:p>
          <a:p>
            <a:pPr marL="285750" indent="-285750">
              <a:buFontTx/>
              <a:buChar char="-"/>
            </a:pPr>
            <a:r>
              <a:rPr lang="ru-RU" sz="1300" dirty="0" err="1"/>
              <a:t>PostgreSQL</a:t>
            </a:r>
            <a:r>
              <a:rPr lang="ru-RU" sz="1300" dirty="0"/>
              <a:t> успешно развернут в </a:t>
            </a:r>
            <a:r>
              <a:rPr lang="ru-RU" sz="1300" dirty="0" err="1"/>
              <a:t>Kubernetes</a:t>
            </a:r>
            <a:r>
              <a:rPr lang="ru-RU" sz="1300" dirty="0"/>
              <a:t> </a:t>
            </a:r>
          </a:p>
          <a:p>
            <a:pPr marL="285750" indent="-285750">
              <a:buFontTx/>
              <a:buChar char="-"/>
            </a:pPr>
            <a:endParaRPr lang="ru-RU" sz="1300" dirty="0"/>
          </a:p>
          <a:p>
            <a:pPr marL="285750" indent="-285750">
              <a:buFontTx/>
              <a:buChar char="-"/>
            </a:pPr>
            <a:r>
              <a:rPr lang="ru-RU" sz="1300" dirty="0"/>
              <a:t>Репликация работает стабильно </a:t>
            </a:r>
          </a:p>
          <a:p>
            <a:pPr marL="285750" indent="-285750">
              <a:buFontTx/>
              <a:buChar char="-"/>
            </a:pPr>
            <a:endParaRPr lang="ru-RU" sz="1300" dirty="0"/>
          </a:p>
          <a:p>
            <a:pPr marL="285750" indent="-285750">
              <a:buFontTx/>
              <a:buChar char="-"/>
            </a:pPr>
            <a:r>
              <a:rPr lang="ru-RU" sz="1300" dirty="0" err="1"/>
              <a:t>Kubernetes</a:t>
            </a:r>
            <a:r>
              <a:rPr lang="ru-RU" sz="1300" dirty="0"/>
              <a:t> автоматически восстанавливает </a:t>
            </a:r>
            <a:r>
              <a:rPr lang="ru-RU" sz="1300" dirty="0" err="1"/>
              <a:t>pod</a:t>
            </a:r>
            <a:r>
              <a:rPr lang="ru-RU" sz="1300" dirty="0"/>
              <a:t> </a:t>
            </a:r>
          </a:p>
          <a:p>
            <a:pPr marL="285750" indent="-285750">
              <a:buFontTx/>
              <a:buChar char="-"/>
            </a:pPr>
            <a:endParaRPr lang="ru-RU" sz="1300" dirty="0"/>
          </a:p>
          <a:p>
            <a:pPr marL="285750" indent="-285750">
              <a:buFontTx/>
              <a:buChar char="-"/>
            </a:pPr>
            <a:r>
              <a:rPr lang="ru-RU" sz="1300" dirty="0"/>
              <a:t>Мониторинг позволяет анализировать состояние БД </a:t>
            </a:r>
          </a:p>
          <a:p>
            <a:pPr marL="285750" indent="-285750">
              <a:buFontTx/>
              <a:buChar char="-"/>
            </a:pPr>
            <a:endParaRPr lang="ru-RU" sz="1300" dirty="0"/>
          </a:p>
          <a:p>
            <a:pPr marL="285750" indent="-285750">
              <a:buFontTx/>
              <a:buChar char="-"/>
            </a:pPr>
            <a:r>
              <a:rPr lang="ru-RU" sz="1300" dirty="0"/>
              <a:t>Под нагрузкой система сохранила работоспособность </a:t>
            </a:r>
          </a:p>
          <a:p>
            <a:pPr marL="285750" indent="-285750">
              <a:buFontTx/>
              <a:buChar char="-"/>
            </a:pPr>
            <a:endParaRPr lang="ru-RU" sz="1300" dirty="0"/>
          </a:p>
          <a:p>
            <a:pPr marL="285750" indent="-285750">
              <a:buFontTx/>
              <a:buChar char="-"/>
            </a:pPr>
            <a:r>
              <a:rPr lang="ru-RU" sz="1300" dirty="0"/>
              <a:t>RTO составил около 15 секунд</a:t>
            </a:r>
          </a:p>
          <a:p>
            <a:pPr marL="285750" indent="-285750">
              <a:buFontTx/>
              <a:buChar char="-"/>
            </a:pPr>
            <a:endParaRPr lang="ru-RU" sz="1300" dirty="0"/>
          </a:p>
          <a:p>
            <a:pPr marL="285750" indent="-285750">
              <a:buFontTx/>
              <a:buChar char="-"/>
            </a:pPr>
            <a:r>
              <a:rPr lang="ru-RU" sz="1300" dirty="0"/>
              <a:t>Потеря данных не зафиксирована</a:t>
            </a:r>
          </a:p>
        </p:txBody>
      </p:sp>
    </p:spTree>
    <p:extLst>
      <p:ext uri="{BB962C8B-B14F-4D97-AF65-F5344CB8AC3E}">
        <p14:creationId xmlns:p14="http://schemas.microsoft.com/office/powerpoint/2010/main" val="2123305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Экран (16:9)</PresentationFormat>
  <Paragraphs>92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Roboto</vt:lpstr>
      <vt:lpstr>Courier New</vt:lpstr>
      <vt:lpstr>Roboto Medium</vt:lpstr>
      <vt:lpstr>Arial</vt:lpstr>
      <vt:lpstr>Светлая тема</vt:lpstr>
      <vt:lpstr>Светлая тема</vt:lpstr>
      <vt:lpstr>Презентация PowerPoint</vt:lpstr>
      <vt:lpstr>Защита проекта Тема: Развертывание отказоустойчивого PostgreSQL-кластера в Kubernetes с анализом RTO/RPO при отказах под нагрузкой    </vt:lpstr>
      <vt:lpstr>План защиты</vt:lpstr>
      <vt:lpstr>Презентация PowerPoint</vt:lpstr>
      <vt:lpstr>Архитектура PostgreSQL-кластера</vt:lpstr>
      <vt:lpstr>Какие технологии использовались</vt:lpstr>
      <vt:lpstr>Развертывание POSTGRESQL</vt:lpstr>
      <vt:lpstr>Нагрузочное тестирование</vt:lpstr>
      <vt:lpstr>Мониторинг POSTGRESQL</vt:lpstr>
      <vt:lpstr>Тестирование отказоустойчивости</vt:lpstr>
      <vt:lpstr>Анализ RTO И RPO</vt:lpstr>
      <vt:lpstr>Выявленные проблемы и ограничения</vt:lpstr>
      <vt:lpstr>Итоговые 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Максим Ефанов</cp:lastModifiedBy>
  <cp:revision>1</cp:revision>
  <dcterms:modified xsi:type="dcterms:W3CDTF">2026-05-25T13:47:25Z</dcterms:modified>
</cp:coreProperties>
</file>